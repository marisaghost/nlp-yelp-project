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94"/>
  </p:normalViewPr>
  <p:slideViewPr>
    <p:cSldViewPr snapToGrid="0" snapToObjects="1">
      <p:cViewPr>
        <p:scale>
          <a:sx n="108" d="100"/>
          <a:sy n="108" d="100"/>
        </p:scale>
        <p:origin x="40" y="4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/>
            </a:pPr>
            <a:r>
              <a:t>Project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548640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Star ratings show what happened, but not why.</a:t>
            </a:r>
          </a:p>
          <a:p>
            <a:pPr>
              <a:defRPr sz="2200"/>
            </a:pPr>
            <a:r>
              <a:t>We used Yelp review text to explain customer satisfaction and dissatisfaction.</a:t>
            </a:r>
          </a:p>
          <a:p>
            <a:pPr>
              <a:defRPr sz="2200"/>
            </a:pPr>
            <a:r>
              <a:t>Goal: turn unstructured reviews into actionable insights.</a:t>
            </a:r>
          </a:p>
        </p:txBody>
      </p:sp>
      <p:pic>
        <p:nvPicPr>
          <p:cNvPr id="4" name="Picture 3" descr="aspect_mention_r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1045" y="2604420"/>
            <a:ext cx="4710395" cy="37065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/>
            </a:pPr>
            <a:r>
              <a:t>Source: outputs/figures/aspect_mention_rate.png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/>
            </a:pPr>
            <a:r>
              <a:t>Problem &amp; Motivation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6400800" cy="3291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Text model Macro-F1: 0.5949</a:t>
            </a:r>
          </a:p>
          <a:p>
            <a:pPr>
              <a:defRPr sz="2200"/>
            </a:pPr>
            <a:r>
              <a:t>Majority baseline accuracy: 0.4051</a:t>
            </a:r>
          </a:p>
          <a:p>
            <a:pPr>
              <a:defRPr sz="2200"/>
            </a:pPr>
            <a:r>
              <a:t>Review text adds meaningful signal beyond star averages.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0" y="1737360"/>
            <a:ext cx="43891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Headline metrics</a:t>
            </a:r>
          </a:p>
          <a:p>
            <a:pPr>
              <a:defRPr sz="1800"/>
            </a:pPr>
            <a:endParaRPr/>
          </a:p>
          <a:p>
            <a:pPr>
              <a:defRPr sz="1800"/>
            </a:pPr>
            <a:r>
              <a:t>Accuracy: 0.6482</a:t>
            </a:r>
          </a:p>
          <a:p>
            <a:pPr>
              <a:defRPr sz="1800"/>
            </a:pPr>
            <a:r>
              <a:t>Macro-F1: 0.5949</a:t>
            </a:r>
          </a:p>
          <a:p>
            <a:pPr>
              <a:defRPr sz="1800"/>
            </a:pPr>
            <a:r>
              <a:t>Weighted-F1: 0.6430</a:t>
            </a:r>
          </a:p>
          <a:p>
            <a:pPr>
              <a:defRPr sz="1800"/>
            </a:pPr>
            <a:r>
              <a:t>Baseline Acc: 0.4051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/>
            </a:pPr>
            <a:r>
              <a:t>Source: outputs/tables/model_metrics.csv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/>
            </a:pPr>
            <a:r>
              <a:t>Data Source &amp;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6309360" cy="3291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rPr dirty="0"/>
              <a:t>Dataset: Yelp Academic Dataset (Philadelphia restaurants).</a:t>
            </a:r>
          </a:p>
          <a:p>
            <a:pPr>
              <a:defRPr sz="2200"/>
            </a:pPr>
            <a:r>
              <a:rPr dirty="0"/>
              <a:t>Working sample size: 100,000 reviews.</a:t>
            </a:r>
          </a:p>
          <a:p>
            <a:pPr>
              <a:defRPr sz="2200"/>
            </a:pPr>
            <a:r>
              <a:rPr dirty="0"/>
              <a:t>Real customer language from real restaurant experiences.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87581" y="3108642"/>
            <a:ext cx="50292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rPr dirty="0"/>
              <a:t>Example row (raw review):</a:t>
            </a:r>
          </a:p>
          <a:p>
            <a:pPr>
              <a:defRPr sz="1600"/>
            </a:pPr>
            <a:r>
              <a:rPr dirty="0"/>
              <a:t>"Wow!  Yummy, different,  delicious.   Our favorite is the lamb curry and korma.  With 10 different kinds of naan!!!  Don't let the outside deter you (because we almost..."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/>
            </a:pPr>
            <a:r>
              <a:t>Source: data/processed/reviews_processed.csv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/>
            </a:pPr>
            <a:r>
              <a:t>Data Preparation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603504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Business + review JSON files were merged by business_id.</a:t>
            </a:r>
          </a:p>
          <a:p>
            <a:pPr>
              <a:defRPr sz="2200"/>
            </a:pPr>
            <a:r>
              <a:t>Reservoir sampling kept a random 100,000-review sample.</a:t>
            </a:r>
          </a:p>
          <a:p>
            <a:pPr>
              <a:defRPr sz="2200"/>
            </a:pPr>
            <a:r>
              <a:t>Scalable approach without loading the full stream into memory.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88784" y="3017202"/>
            <a:ext cx="51206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rPr dirty="0"/>
              <a:t># reservoir sampling</a:t>
            </a:r>
          </a:p>
          <a:p>
            <a:pPr>
              <a:defRPr sz="1600"/>
            </a:pPr>
            <a:r>
              <a:rPr dirty="0"/>
              <a:t>if </a:t>
            </a:r>
            <a:r>
              <a:rPr dirty="0" err="1"/>
              <a:t>len</a:t>
            </a:r>
            <a:r>
              <a:rPr dirty="0"/>
              <a:t>(</a:t>
            </a:r>
            <a:r>
              <a:rPr dirty="0" err="1"/>
              <a:t>sampled_rows</a:t>
            </a:r>
            <a:r>
              <a:rPr dirty="0"/>
              <a:t>) &lt; </a:t>
            </a:r>
            <a:r>
              <a:rPr dirty="0" err="1"/>
              <a:t>max_reviews</a:t>
            </a:r>
            <a:r>
              <a:rPr dirty="0"/>
              <a:t>:</a:t>
            </a:r>
          </a:p>
          <a:p>
            <a:pPr>
              <a:defRPr sz="1600"/>
            </a:pPr>
            <a:r>
              <a:rPr dirty="0"/>
              <a:t>    </a:t>
            </a:r>
            <a:r>
              <a:rPr dirty="0" err="1"/>
              <a:t>sampled_rows.append</a:t>
            </a:r>
            <a:r>
              <a:rPr dirty="0"/>
              <a:t>(row)</a:t>
            </a:r>
          </a:p>
          <a:p>
            <a:pPr>
              <a:defRPr sz="1600"/>
            </a:pPr>
            <a:r>
              <a:rPr dirty="0"/>
              <a:t>else:</a:t>
            </a:r>
          </a:p>
          <a:p>
            <a:pPr>
              <a:defRPr sz="1600"/>
            </a:pPr>
            <a:r>
              <a:rPr dirty="0"/>
              <a:t>    </a:t>
            </a:r>
            <a:r>
              <a:rPr dirty="0" err="1"/>
              <a:t>idx</a:t>
            </a:r>
            <a:r>
              <a:rPr dirty="0"/>
              <a:t> = </a:t>
            </a:r>
            <a:r>
              <a:rPr dirty="0" err="1"/>
              <a:t>random_generator.randint</a:t>
            </a:r>
            <a:r>
              <a:rPr dirty="0"/>
              <a:t>(1, </a:t>
            </a:r>
            <a:r>
              <a:rPr dirty="0" err="1"/>
              <a:t>seen_matching_reviews</a:t>
            </a:r>
            <a:r>
              <a:rPr dirty="0"/>
              <a:t>)</a:t>
            </a:r>
          </a:p>
          <a:p>
            <a:pPr>
              <a:defRPr sz="1600"/>
            </a:pPr>
            <a:r>
              <a:rPr dirty="0"/>
              <a:t>    if </a:t>
            </a:r>
            <a:r>
              <a:rPr dirty="0" err="1"/>
              <a:t>idx</a:t>
            </a:r>
            <a:r>
              <a:rPr dirty="0"/>
              <a:t> &lt;= </a:t>
            </a:r>
            <a:r>
              <a:rPr dirty="0" err="1"/>
              <a:t>max_reviews</a:t>
            </a:r>
            <a:r>
              <a:rPr dirty="0"/>
              <a:t>:</a:t>
            </a:r>
          </a:p>
          <a:p>
            <a:pPr>
              <a:defRPr sz="1600"/>
            </a:pPr>
            <a:r>
              <a:rPr dirty="0"/>
              <a:t>        </a:t>
            </a:r>
            <a:r>
              <a:rPr dirty="0" err="1"/>
              <a:t>sampled_rows</a:t>
            </a:r>
            <a:r>
              <a:rPr dirty="0"/>
              <a:t>[</a:t>
            </a:r>
            <a:r>
              <a:rPr dirty="0" err="1"/>
              <a:t>idx</a:t>
            </a:r>
            <a:r>
              <a:rPr dirty="0"/>
              <a:t> - 1] = row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/>
            </a:pPr>
            <a:r>
              <a:t>Source: src/data_loader.py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/>
            </a:pPr>
            <a:r>
              <a:t>Text Preprocessing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585216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Text was normalized to reduce noise and improve consistency.</a:t>
            </a:r>
          </a:p>
          <a:p>
            <a:pPr>
              <a:defRPr sz="2200"/>
            </a:pPr>
            <a:r>
              <a:t>Cleaning steps included tokenization, lemmatization, and filtering.</a:t>
            </a:r>
          </a:p>
          <a:p>
            <a:pPr>
              <a:defRPr sz="2200"/>
            </a:pPr>
            <a:r>
              <a:t>Result: stable, interpretable inputs for modeling.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79779" y="2834640"/>
            <a:ext cx="53949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rPr dirty="0"/>
              <a:t>Before (text):</a:t>
            </a:r>
          </a:p>
          <a:p>
            <a:pPr>
              <a:defRPr sz="1400"/>
            </a:pPr>
            <a:r>
              <a:rPr dirty="0"/>
              <a:t>"Wow!  Yummy, different,  delicious.   Our favorite is the lamb curry and korma.  With 10 different kinds of naan!!!  Don't let the outside deter you (because we almost..."</a:t>
            </a:r>
          </a:p>
          <a:p>
            <a:pPr>
              <a:defRPr sz="1400"/>
            </a:pPr>
            <a:endParaRPr dirty="0"/>
          </a:p>
          <a:p>
            <a:pPr>
              <a:defRPr sz="1400"/>
            </a:pPr>
            <a:r>
              <a:rPr dirty="0"/>
              <a:t>After (</a:t>
            </a:r>
            <a:r>
              <a:rPr dirty="0" err="1"/>
              <a:t>cleaned_text</a:t>
            </a:r>
            <a:r>
              <a:rPr dirty="0"/>
              <a:t>):</a:t>
            </a:r>
          </a:p>
          <a:p>
            <a:pPr>
              <a:defRPr sz="1400"/>
            </a:pPr>
            <a:r>
              <a:rPr dirty="0"/>
              <a:t>"wow yummy different delicious favorite lamb curry korma different kind naan let outside deter change try new glad"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/>
            </a:pPr>
            <a:r>
              <a:t>Source: data/processed/reviews_processed.csv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/>
            </a:pPr>
            <a:r>
              <a:t>Topic Modeling (Unsupervised NLP)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rPr dirty="0"/>
              <a:t>Separate topic models were built for positive and negative reviews.</a:t>
            </a:r>
          </a:p>
          <a:p>
            <a:pPr>
              <a:defRPr sz="2200"/>
            </a:pPr>
            <a:r>
              <a:rPr dirty="0"/>
              <a:t>Positive and negative groups focus on different recurring themes.</a:t>
            </a:r>
          </a:p>
          <a:p>
            <a:pPr>
              <a:defRPr sz="2200"/>
            </a:pPr>
            <a:r>
              <a:rPr dirty="0"/>
              <a:t>This helps explain what customers talk about by sentiment.</a:t>
            </a:r>
          </a:p>
        </p:txBody>
      </p:sp>
      <p:pic>
        <p:nvPicPr>
          <p:cNvPr id="4" name="Picture 3" descr="lda_positive_topic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240280"/>
            <a:ext cx="5577840" cy="4297680"/>
          </a:xfrm>
          <a:prstGeom prst="rect">
            <a:avLst/>
          </a:prstGeom>
        </p:spPr>
      </p:pic>
      <p:pic>
        <p:nvPicPr>
          <p:cNvPr id="5" name="Picture 4" descr="lda_negative_topic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2240280"/>
            <a:ext cx="5577840" cy="42976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/>
            </a:pPr>
            <a:r>
              <a:t>Source: outputs/figures/lda_positive_topic_0.png; outputs/figures/lda_negative_topic_0.png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/>
            </a:pPr>
            <a:r>
              <a:t>Topic Model Quality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6400800" cy="3291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Positive topic coherence (c_v): 0.4300</a:t>
            </a:r>
          </a:p>
          <a:p>
            <a:pPr>
              <a:defRPr sz="2200"/>
            </a:pPr>
            <a:r>
              <a:t>Negative topic coherence (c_v): 0.4246</a:t>
            </a:r>
          </a:p>
          <a:p>
            <a:pPr>
              <a:defRPr sz="2200"/>
            </a:pPr>
            <a:r>
              <a:t>Vocabulary tuning improved topic interpretability.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79" y="1828800"/>
            <a:ext cx="41148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/>
            </a:pPr>
            <a:r>
              <a:t>Final coherence values</a:t>
            </a:r>
          </a:p>
          <a:p>
            <a:pPr>
              <a:defRPr sz="2200"/>
            </a:pPr>
            <a:endParaRPr/>
          </a:p>
          <a:p>
            <a:pPr>
              <a:defRPr sz="2200"/>
            </a:pPr>
            <a:r>
              <a:t>Positive: 0.4300</a:t>
            </a:r>
          </a:p>
          <a:p>
            <a:pPr>
              <a:defRPr sz="2200"/>
            </a:pPr>
            <a:r>
              <a:t>Negative: 0.4246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/>
            </a:pPr>
            <a:r>
              <a:t>Source: outputs/tables/lda_coherence.csv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/>
            </a:pPr>
            <a:r>
              <a:t>Rating Prediction (Supervised NLP)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78992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Accuracy: 0.6482 (vs baseline 0.4051)</a:t>
            </a:r>
          </a:p>
          <a:p>
            <a:pPr>
              <a:defRPr sz="2200"/>
            </a:pPr>
            <a:r>
              <a:t>Macro-F1: 0.5949</a:t>
            </a:r>
          </a:p>
          <a:p>
            <a:pPr>
              <a:defRPr sz="2200"/>
            </a:pPr>
            <a:r>
              <a:t>Text-based model predicts 1–5 stars substantially better than baseline.</a:t>
            </a:r>
          </a:p>
        </p:txBody>
      </p:sp>
      <p:pic>
        <p:nvPicPr>
          <p:cNvPr id="4" name="Picture 3" descr="confusion_matrix_normaliz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4475" y="2867365"/>
            <a:ext cx="6934612" cy="357915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/>
            </a:pPr>
            <a:r>
              <a:t>Source: outputs/figures/confusion_matrix_normalized.png; outputs/tables/model_metrics.csv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/>
            </a:pPr>
            <a:r>
              <a:t>Model Interpretability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6217920" cy="3291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The linear model is transparent: we can inspect influential words.</a:t>
            </a:r>
          </a:p>
          <a:p>
            <a:pPr>
              <a:defRPr sz="2200"/>
            </a:pPr>
            <a:r>
              <a:t>Top positive words align with praise language.</a:t>
            </a:r>
          </a:p>
          <a:p>
            <a:pPr>
              <a:defRPr sz="2200"/>
            </a:pPr>
            <a:r>
              <a:t>Top negative words align with complaint language.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88480" y="2468880"/>
            <a:ext cx="4572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rPr dirty="0"/>
              <a:t>Top positive words</a:t>
            </a:r>
          </a:p>
          <a:p>
            <a:pPr>
              <a:defRPr sz="1600"/>
            </a:pPr>
            <a:r>
              <a:rPr dirty="0"/>
              <a:t>- best</a:t>
            </a:r>
          </a:p>
          <a:p>
            <a:pPr>
              <a:defRPr sz="1600"/>
            </a:pPr>
            <a:r>
              <a:rPr dirty="0"/>
              <a:t>- great</a:t>
            </a:r>
          </a:p>
          <a:p>
            <a:pPr>
              <a:defRPr sz="1600"/>
            </a:pPr>
            <a:r>
              <a:rPr dirty="0"/>
              <a:t>- amazing</a:t>
            </a:r>
          </a:p>
          <a:p>
            <a:pPr>
              <a:defRPr sz="1600"/>
            </a:pPr>
            <a:r>
              <a:rPr dirty="0"/>
              <a:t>- the best</a:t>
            </a:r>
          </a:p>
          <a:p>
            <a:pPr>
              <a:defRPr sz="1600"/>
            </a:pPr>
            <a:r>
              <a:rPr dirty="0"/>
              <a:t>- so good</a:t>
            </a:r>
          </a:p>
          <a:p>
            <a:pPr>
              <a:defRPr sz="1600"/>
            </a:pPr>
            <a:endParaRPr dirty="0"/>
          </a:p>
          <a:p>
            <a:pPr>
              <a:defRPr sz="1600"/>
            </a:pPr>
            <a:r>
              <a:rPr dirty="0"/>
              <a:t>Top negative words</a:t>
            </a:r>
          </a:p>
          <a:p>
            <a:pPr>
              <a:defRPr sz="1600"/>
            </a:pPr>
            <a:r>
              <a:rPr dirty="0"/>
              <a:t>- worst</a:t>
            </a:r>
          </a:p>
          <a:p>
            <a:pPr>
              <a:defRPr sz="1600"/>
            </a:pPr>
            <a:r>
              <a:rPr dirty="0"/>
              <a:t>- not</a:t>
            </a:r>
          </a:p>
          <a:p>
            <a:pPr>
              <a:defRPr sz="1600"/>
            </a:pPr>
            <a:r>
              <a:rPr dirty="0"/>
              <a:t>- rude</a:t>
            </a:r>
          </a:p>
          <a:p>
            <a:pPr>
              <a:defRPr sz="1600"/>
            </a:pPr>
            <a:r>
              <a:rPr dirty="0"/>
              <a:t>- the worst</a:t>
            </a:r>
          </a:p>
          <a:p>
            <a:pPr>
              <a:defRPr sz="1600"/>
            </a:pPr>
            <a:r>
              <a:rPr dirty="0"/>
              <a:t>- bad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/>
            </a:pPr>
            <a:r>
              <a:t>Source: outputs/tables/top_features.csv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/>
            </a:pPr>
            <a:r>
              <a:t>Key Insights &amp;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10972800" cy="2377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Text model performance is strong (Macro-F1 0.5949).</a:t>
            </a:r>
          </a:p>
          <a:p>
            <a:pPr>
              <a:defRPr sz="2200"/>
            </a:pPr>
            <a:r>
              <a:t>Topic quality is interpretable (coherence 0.43/0.42).</a:t>
            </a:r>
          </a:p>
          <a:p>
            <a:pPr>
              <a:defRPr sz="2200"/>
            </a:pPr>
            <a:r>
              <a:t>Service and Price are key dissatisfaction drivers (Service lift 1.17, Price lift 1.16).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12064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/>
            </a:pPr>
            <a:r>
              <a:t>Fully reproducible pipeline: raw data -&gt; preprocessing -&gt; modeling -&gt; analysis -&gt; report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/>
            </a:pPr>
            <a:r>
              <a:t>Source: outputs/tables/model_metrics.csv; outputs/tables/lda_coherence.csv; outputs/tables/aspect_significance.csv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1286</TotalTime>
  <Words>702</Words>
  <Application>Microsoft Macintosh PowerPoint</Application>
  <PresentationFormat>Widescreen</PresentationFormat>
  <Paragraphs>88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Project Overview</vt:lpstr>
      <vt:lpstr>Problem &amp; Motivation</vt:lpstr>
      <vt:lpstr>Data Source &amp; Scope</vt:lpstr>
      <vt:lpstr>Data Preparation Pipeline</vt:lpstr>
      <vt:lpstr>Text Preprocessing</vt:lpstr>
      <vt:lpstr>Topic Modeling (Unsupervised NLP)</vt:lpstr>
      <vt:lpstr>Topic Model Quality</vt:lpstr>
      <vt:lpstr>Rating Prediction (Supervised NLP)</vt:lpstr>
      <vt:lpstr>Model Interpretability</vt:lpstr>
      <vt:lpstr>Key Insights &amp; Takeaways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Siyuan Wang</cp:lastModifiedBy>
  <cp:revision>2</cp:revision>
  <dcterms:created xsi:type="dcterms:W3CDTF">2013-01-27T09:14:16Z</dcterms:created>
  <dcterms:modified xsi:type="dcterms:W3CDTF">2026-02-09T18:45:58Z</dcterms:modified>
  <cp:category/>
</cp:coreProperties>
</file>