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48640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Star ratings show what happened, but not why.</a:t>
            </a:r>
          </a:p>
          <a:p>
            <a:pPr>
              <a:defRPr sz="2200"/>
            </a:pPr>
            <a:r>
              <a:t>We used Yelp review text to explain customer satisfaction and dissatisfaction.</a:t>
            </a:r>
          </a:p>
          <a:p>
            <a:pPr>
              <a:defRPr sz="2200"/>
            </a:pPr>
            <a:r>
              <a:t>Goal: turn unstructured reviews into actionable insights.</a:t>
            </a:r>
          </a:p>
        </p:txBody>
      </p:sp>
      <p:pic>
        <p:nvPicPr>
          <p:cNvPr id="4" name="Picture 3" descr="aspect_mention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57784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Source: outputs/figures/aspect_mention_rate.png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Problem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640080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Text model Macro-F1: 0.5949</a:t>
            </a:r>
          </a:p>
          <a:p>
            <a:pPr>
              <a:defRPr sz="2200"/>
            </a:pPr>
            <a:r>
              <a:t>Majority baseline accuracy: 0.4051</a:t>
            </a:r>
          </a:p>
          <a:p>
            <a:pPr>
              <a:defRPr sz="2200"/>
            </a:pPr>
            <a:r>
              <a:t>Review text adds meaningful signal beyond star averages.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737360"/>
            <a:ext cx="4389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Headline metrics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Accuracy: 0.6482</a:t>
            </a:r>
          </a:p>
          <a:p>
            <a:pPr>
              <a:defRPr sz="1800"/>
            </a:pPr>
            <a:r>
              <a:t>Macro-F1: 0.5949</a:t>
            </a:r>
          </a:p>
          <a:p>
            <a:pPr>
              <a:defRPr sz="1800"/>
            </a:pPr>
            <a:r>
              <a:t>Weighted-F1: 0.6430</a:t>
            </a:r>
          </a:p>
          <a:p>
            <a:pPr>
              <a:defRPr sz="1800"/>
            </a:pPr>
            <a:r>
              <a:t>Baseline Acc: 0.4051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Source: outputs/tables/model_metrics.csv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Data Source &amp;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630936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Dataset: Yelp Academic Dataset (Philadelphia restaurants).</a:t>
            </a:r>
          </a:p>
          <a:p>
            <a:pPr>
              <a:defRPr sz="2200"/>
            </a:pPr>
            <a:r>
              <a:t>Working sample size: 100,000 reviews.</a:t>
            </a:r>
          </a:p>
          <a:p>
            <a:pPr>
              <a:defRPr sz="2200"/>
            </a:pPr>
            <a:r>
              <a:t>Real customer language from real restaurant experiences.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64592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Example row (raw review):</a:t>
            </a:r>
          </a:p>
          <a:p>
            <a:pPr>
              <a:defRPr sz="1600"/>
            </a:pPr>
            <a:r>
              <a:t>"Wow!  Yummy, different,  delicious.   Our favorite is the lamb curry and korma.  With 10 different kinds of naan!!!  Don't let the outside deter you (because we almost..."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Source: data/processed/reviews_processed.csv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Data Preparation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03504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Business + review JSON files were merged by business_id.</a:t>
            </a:r>
          </a:p>
          <a:p>
            <a:pPr>
              <a:defRPr sz="2200"/>
            </a:pPr>
            <a:r>
              <a:t>Reservoir sampling kept a random 100,000-review sample.</a:t>
            </a:r>
          </a:p>
          <a:p>
            <a:pPr>
              <a:defRPr sz="2200"/>
            </a:pPr>
            <a:r>
              <a:t>Scalable approach without loading the full stream into memory.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645920"/>
            <a:ext cx="5120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# reservoir sampling</a:t>
            </a:r>
          </a:p>
          <a:p>
            <a:pPr>
              <a:defRPr sz="1600"/>
            </a:pPr>
            <a:r>
              <a:t>if len(sampled_rows) &lt; max_reviews:</a:t>
            </a:r>
          </a:p>
          <a:p>
            <a:pPr>
              <a:defRPr sz="1600"/>
            </a:pPr>
            <a:r>
              <a:t>    sampled_rows.append(row)</a:t>
            </a:r>
          </a:p>
          <a:p>
            <a:pPr>
              <a:defRPr sz="1600"/>
            </a:pPr>
            <a:r>
              <a:t>else:</a:t>
            </a:r>
          </a:p>
          <a:p>
            <a:pPr>
              <a:defRPr sz="1600"/>
            </a:pPr>
            <a:r>
              <a:t>    idx = random_generator.randint(1, seen_matching_reviews)</a:t>
            </a:r>
          </a:p>
          <a:p>
            <a:pPr>
              <a:defRPr sz="1600"/>
            </a:pPr>
            <a:r>
              <a:t>    if idx &lt;= max_reviews:</a:t>
            </a:r>
          </a:p>
          <a:p>
            <a:pPr>
              <a:defRPr sz="1600"/>
            </a:pPr>
            <a:r>
              <a:t>        sampled_rows[idx - 1] = 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Source: src/data_loader.py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Text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85216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Text was normalized to reduce noise and improve consistency.</a:t>
            </a:r>
          </a:p>
          <a:p>
            <a:pPr>
              <a:defRPr sz="2200"/>
            </a:pPr>
            <a:r>
              <a:t>Cleaning steps included tokenization, lemmatization, and filtering.</a:t>
            </a:r>
          </a:p>
          <a:p>
            <a:pPr>
              <a:defRPr sz="2200"/>
            </a:pPr>
            <a:r>
              <a:t>Result: stable, interpretable inputs for modeling.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Before (text):</a:t>
            </a:r>
          </a:p>
          <a:p>
            <a:pPr>
              <a:defRPr sz="1400"/>
            </a:pPr>
            <a:r>
              <a:t>"Wow!  Yummy, different,  delicious.   Our favorite is the lamb curry and korma.  With 10 different kinds of naan!!!  Don't let the outside deter you (because we almost..."</a:t>
            </a:r>
          </a:p>
          <a:p>
            <a:pPr>
              <a:defRPr sz="1400"/>
            </a:pPr>
          </a:p>
          <a:p>
            <a:pPr>
              <a:defRPr sz="1400"/>
            </a:pPr>
            <a:r>
              <a:t>After (cleaned_text):</a:t>
            </a:r>
          </a:p>
          <a:p>
            <a:pPr>
              <a:defRPr sz="1400"/>
            </a:pPr>
            <a:r>
              <a:t>"wow yummy different delicious favorite lamb curry korma different kind naan let outside deter change try new glad"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Source: data/processed/reviews_processed.csv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Topic Modeling (Unsupervised NLP)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Separate topic models were built for positive and negative reviews.</a:t>
            </a:r>
          </a:p>
          <a:p>
            <a:pPr>
              <a:defRPr sz="2200"/>
            </a:pPr>
            <a:r>
              <a:t>Positive and negative groups focus on different recurring themes.</a:t>
            </a:r>
          </a:p>
          <a:p>
            <a:pPr>
              <a:defRPr sz="2200"/>
            </a:pPr>
            <a:r>
              <a:t>This helps explain what customers talk about by sentiment.</a:t>
            </a:r>
          </a:p>
        </p:txBody>
      </p:sp>
      <p:pic>
        <p:nvPicPr>
          <p:cNvPr id="4" name="Picture 3" descr="lda_positive_topi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5577840" cy="4297680"/>
          </a:xfrm>
          <a:prstGeom prst="rect">
            <a:avLst/>
          </a:prstGeom>
        </p:spPr>
      </p:pic>
      <p:pic>
        <p:nvPicPr>
          <p:cNvPr id="5" name="Picture 4" descr="lda_negative_topic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28800"/>
            <a:ext cx="557784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Source: outputs/figures/lda_positive_topic_0.png; outputs/figures/lda_negative_topic_0.png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Topic Model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640080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Positive topic coherence (c_v): 0.4300</a:t>
            </a:r>
          </a:p>
          <a:p>
            <a:pPr>
              <a:defRPr sz="2200"/>
            </a:pPr>
            <a:r>
              <a:t>Negative topic coherence (c_v): 0.4246</a:t>
            </a:r>
          </a:p>
          <a:p>
            <a:pPr>
              <a:defRPr sz="2200"/>
            </a:pPr>
            <a:r>
              <a:t>Vocabulary tuning improved topic interpretability.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182880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Final coherence values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Positive: 0.4300</a:t>
            </a:r>
          </a:p>
          <a:p>
            <a:pPr>
              <a:defRPr sz="2200"/>
            </a:pPr>
            <a:r>
              <a:t>Negative: 0.4246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Source: outputs/tables/lda_coherence.csv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Rating Prediction (Supervised NLP)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7899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Accuracy: 0.6482 (vs baseline 0.4051)</a:t>
            </a:r>
          </a:p>
          <a:p>
            <a:pPr>
              <a:defRPr sz="2200"/>
            </a:pPr>
            <a:r>
              <a:t>Macro-F1: 0.5949</a:t>
            </a:r>
          </a:p>
          <a:p>
            <a:pPr>
              <a:defRPr sz="2200"/>
            </a:pPr>
            <a:r>
              <a:t>Text-based model predicts 1–5 stars substantially better than baseline.</a:t>
            </a:r>
          </a:p>
        </p:txBody>
      </p:sp>
      <p:pic>
        <p:nvPicPr>
          <p:cNvPr id="4" name="Picture 3" descr="confusion_matrix_norm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011680"/>
            <a:ext cx="85039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Source: outputs/figures/confusion_matrix_normalized.png; outputs/tables/model_metrics.csv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Model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21792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The linear model is transparent: we can inspect influential words.</a:t>
            </a:r>
          </a:p>
          <a:p>
            <a:pPr>
              <a:defRPr sz="2200"/>
            </a:pPr>
            <a:r>
              <a:t>Top positive words align with praise language.</a:t>
            </a:r>
          </a:p>
          <a:p>
            <a:pPr>
              <a:defRPr sz="2200"/>
            </a:pPr>
            <a:r>
              <a:t>Top negative words align with complaint language.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0" y="155448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Top positive words</a:t>
            </a:r>
          </a:p>
          <a:p>
            <a:pPr>
              <a:defRPr sz="1600"/>
            </a:pPr>
            <a:r>
              <a:t>- best</a:t>
            </a:r>
          </a:p>
          <a:p>
            <a:pPr>
              <a:defRPr sz="1600"/>
            </a:pPr>
            <a:r>
              <a:t>- great</a:t>
            </a:r>
          </a:p>
          <a:p>
            <a:pPr>
              <a:defRPr sz="1600"/>
            </a:pPr>
            <a:r>
              <a:t>- amazing</a:t>
            </a:r>
          </a:p>
          <a:p>
            <a:pPr>
              <a:defRPr sz="1600"/>
            </a:pPr>
            <a:r>
              <a:t>- the best</a:t>
            </a:r>
          </a:p>
          <a:p>
            <a:pPr>
              <a:defRPr sz="1600"/>
            </a:pPr>
            <a:r>
              <a:t>- so good</a:t>
            </a:r>
          </a:p>
          <a:p>
            <a:pPr>
              <a:defRPr sz="1600"/>
            </a:pPr>
          </a:p>
          <a:p>
            <a:pPr>
              <a:defRPr sz="1600"/>
            </a:pPr>
            <a:r>
              <a:t>Top negative words</a:t>
            </a:r>
          </a:p>
          <a:p>
            <a:pPr>
              <a:defRPr sz="1600"/>
            </a:pPr>
            <a:r>
              <a:t>- worst</a:t>
            </a:r>
          </a:p>
          <a:p>
            <a:pPr>
              <a:defRPr sz="1600"/>
            </a:pPr>
            <a:r>
              <a:t>- not</a:t>
            </a:r>
          </a:p>
          <a:p>
            <a:pPr>
              <a:defRPr sz="1600"/>
            </a:pPr>
            <a:r>
              <a:t>- rude</a:t>
            </a:r>
          </a:p>
          <a:p>
            <a:pPr>
              <a:defRPr sz="1600"/>
            </a:pPr>
            <a:r>
              <a:t>- the worst</a:t>
            </a:r>
          </a:p>
          <a:p>
            <a:pPr>
              <a:defRPr sz="1600"/>
            </a:pPr>
            <a:r>
              <a:t>- bad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Source: outputs/tables/top_features.csv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Key Insights &amp;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Text model performance is strong (Macro-F1 0.5949).</a:t>
            </a:r>
          </a:p>
          <a:p>
            <a:pPr>
              <a:defRPr sz="2200"/>
            </a:pPr>
            <a:r>
              <a:t>Topic quality is interpretable (coherence 0.43/0.42).</a:t>
            </a:r>
          </a:p>
          <a:p>
            <a:pPr>
              <a:defRPr sz="2200"/>
            </a:pPr>
            <a:r>
              <a:t>Service and Price are key dissatisfaction drivers (Service lift 1.17, Price lift 1.16).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/>
            </a:pPr>
            <a:r>
              <a:t>Fully reproducible pipeline: raw data -&gt; preprocessing -&gt; modeling -&gt; analysis -&gt;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Source: outputs/tables/model_metrics.csv; outputs/tables/lda_coherence.csv; outputs/tables/aspect_significance.csv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